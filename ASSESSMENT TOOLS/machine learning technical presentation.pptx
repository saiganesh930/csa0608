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72" r:id="rId8"/>
    <p:sldId id="271" r:id="rId9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CE53A6-DE2B-4AFB-AF68-EAAA009EBCC9}" v="2" dt="2026-07-25T08:48:48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8" autoAdjust="0"/>
    <p:restoredTop sz="94660" autoAdjust="0"/>
  </p:normalViewPr>
  <p:slideViewPr>
    <p:cSldViewPr snapToGrid="0" snapToObjects="1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manoj Kumar" userId="327d90f50e00cf8c" providerId="LiveId" clId="{7774038F-1818-4959-A774-91341BD1FECA}"/>
    <pc:docChg chg="modSld">
      <pc:chgData name="Cmanoj Kumar" userId="327d90f50e00cf8c" providerId="LiveId" clId="{7774038F-1818-4959-A774-91341BD1FECA}" dt="2026-07-25T09:11:21.365" v="46" actId="5793"/>
      <pc:docMkLst>
        <pc:docMk/>
      </pc:docMkLst>
      <pc:sldChg chg="modSp mod">
        <pc:chgData name="Cmanoj Kumar" userId="327d90f50e00cf8c" providerId="LiveId" clId="{7774038F-1818-4959-A774-91341BD1FECA}" dt="2026-07-25T08:48:57.186" v="44" actId="2711"/>
        <pc:sldMkLst>
          <pc:docMk/>
          <pc:sldMk cId="762552055" sldId="256"/>
        </pc:sldMkLst>
        <pc:spChg chg="mod">
          <ac:chgData name="Cmanoj Kumar" userId="327d90f50e00cf8c" providerId="LiveId" clId="{7774038F-1818-4959-A774-91341BD1FECA}" dt="2026-07-25T08:48:57.186" v="44" actId="2711"/>
          <ac:spMkLst>
            <pc:docMk/>
            <pc:sldMk cId="762552055" sldId="256"/>
            <ac:spMk id="19" creationId="{00000000-0000-0000-0000-000000000000}"/>
          </ac:spMkLst>
        </pc:spChg>
      </pc:sldChg>
      <pc:sldChg chg="modSp mod">
        <pc:chgData name="Cmanoj Kumar" userId="327d90f50e00cf8c" providerId="LiveId" clId="{7774038F-1818-4959-A774-91341BD1FECA}" dt="2026-07-25T09:11:21.365" v="46" actId="5793"/>
        <pc:sldMkLst>
          <pc:docMk/>
          <pc:sldMk cId="1867671708" sldId="260"/>
        </pc:sldMkLst>
        <pc:spChg chg="mod">
          <ac:chgData name="Cmanoj Kumar" userId="327d90f50e00cf8c" providerId="LiveId" clId="{7774038F-1818-4959-A774-91341BD1FECA}" dt="2026-07-25T09:11:21.365" v="46" actId="5793"/>
          <ac:spMkLst>
            <pc:docMk/>
            <pc:sldMk cId="1867671708" sldId="260"/>
            <ac:spMk id="3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99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439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065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18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11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47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3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529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81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2026/7/28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161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gradFill>
          <a:gsLst>
            <a:gs pos="0">
              <a:srgbClr val="CAC6C1"/>
            </a:gs>
            <a:gs pos="100000">
              <a:srgbClr val="ECEAE8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"/>
          <p:cNvSpPr>
            <a:spLocks/>
          </p:cNvSpPr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rotWithShape="1">
            <a:gsLst>
              <a:gs pos="0">
                <a:srgbClr val="DFDBD5">
                  <a:alpha val="0"/>
                </a:srgbClr>
              </a:gs>
              <a:gs pos="100000">
                <a:srgbClr val="DFDBD5">
                  <a:alpha val="100000"/>
                </a:srgbClr>
              </a:gs>
            </a:gsLst>
            <a:lin ang="5400000" scaled="1"/>
          </a:gradFill>
          <a:ln w="15875" cap="flat" cmpd="sng">
            <a:noFill/>
            <a:prstDash val="solid"/>
            <a:round/>
          </a:ln>
        </p:spPr>
      </p:sp>
      <p:pic>
        <p:nvPicPr>
          <p:cNvPr id="17" name="图片"/>
          <p:cNvPicPr>
            <a:picLocks noChangeAspect="1"/>
          </p:cNvPicPr>
          <p:nvPr/>
        </p:nvPicPr>
        <p:blipFill>
          <a:blip r:embed="rId2" cstate="print"/>
          <a:srcRect l="12500" t="1538" r="12500" b="-1538"/>
          <a:stretch>
            <a:fillRect/>
          </a:stretch>
        </p:blipFill>
        <p:spPr>
          <a:xfrm>
            <a:off x="-1" y="6095253"/>
            <a:ext cx="9144001" cy="77472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6" name="直线"/>
          <p:cNvSpPr>
            <a:spLocks/>
          </p:cNvSpPr>
          <p:nvPr/>
        </p:nvSpPr>
        <p:spPr>
          <a:xfrm>
            <a:off x="0" y="6101127"/>
            <a:ext cx="9144000" cy="0"/>
          </a:xfrm>
          <a:prstGeom prst="line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1443491" y="804519"/>
            <a:ext cx="6571343" cy="104923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dt" idx="10"/>
          </p:nvPr>
        </p:nvSpPr>
        <p:spPr>
          <a:xfrm>
            <a:off x="5646542" y="330370"/>
            <a:ext cx="2368292" cy="3092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endParaRPr lang="zh-CN" altLang="en-US" sz="1000">
              <a:solidFill>
                <a:srgbClr val="898989"/>
              </a:solidFill>
              <a:latin typeface="Gill Sans MT" charset="0"/>
              <a:ea typeface="等线" charset="0"/>
              <a:cs typeface="Gill Sans MT" charset="0"/>
            </a:endParaRPr>
          </a:p>
        </p:txBody>
      </p:sp>
      <p:sp>
        <p:nvSpPr>
          <p:cNvPr id="13" name="文本框"/>
          <p:cNvSpPr>
            <a:spLocks noGrp="1"/>
          </p:cNvSpPr>
          <p:nvPr>
            <p:ph type="ftr"/>
          </p:nvPr>
        </p:nvSpPr>
        <p:spPr>
          <a:xfrm>
            <a:off x="1443491" y="329308"/>
            <a:ext cx="4034004" cy="309200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000">
              <a:solidFill>
                <a:srgbClr val="898989"/>
              </a:solidFill>
              <a:latin typeface="Gill Sans MT" charset="0"/>
              <a:ea typeface="等线" charset="0"/>
              <a:cs typeface="Gill Sans MT" charset="0"/>
            </a:endParaRPr>
          </a:p>
        </p:txBody>
      </p:sp>
      <p:sp>
        <p:nvSpPr>
          <p:cNvPr id="14" name="文本框"/>
          <p:cNvSpPr>
            <a:spLocks noGrp="1"/>
          </p:cNvSpPr>
          <p:nvPr>
            <p:ph type="sldNum"/>
          </p:nvPr>
        </p:nvSpPr>
        <p:spPr>
          <a:xfrm>
            <a:off x="487724" y="798972"/>
            <a:ext cx="795746" cy="503578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2800" b="0" i="0" u="none" strike="noStrike" kern="1200" cap="none" spc="0" baseline="0">
                <a:solidFill>
                  <a:schemeClr val="accent1"/>
                </a:solidFill>
                <a:latin typeface="Gill Sans MT" charset="0"/>
                <a:ea typeface="等线" charset="0"/>
                <a:cs typeface="Gill Sans MT" charset="0"/>
              </a:rPr>
              <a:t>‹#›</a:t>
            </a:fld>
            <a:endParaRPr lang="zh-CN" altLang="en-US" sz="2800">
              <a:solidFill>
                <a:schemeClr val="accent1"/>
              </a:solidFill>
              <a:latin typeface="Gill Sans MT" charset="0"/>
              <a:ea typeface="等线" charset="0"/>
              <a:cs typeface="Gill Sans MT" charset="0"/>
            </a:endParaRPr>
          </a:p>
        </p:txBody>
      </p:sp>
      <p:sp>
        <p:nvSpPr>
          <p:cNvPr id="15" name="直线"/>
          <p:cNvSpPr>
            <a:spLocks/>
          </p:cNvSpPr>
          <p:nvPr/>
        </p:nvSpPr>
        <p:spPr>
          <a:xfrm>
            <a:off x="1443491" y="1847088"/>
            <a:ext cx="6571343" cy="0"/>
          </a:xfrm>
          <a:prstGeom prst="line">
            <a:avLst/>
          </a:prstGeom>
          <a:noFill/>
          <a:ln w="31750" cap="flat" cmpd="sng">
            <a:solidFill>
              <a:srgbClr val="B71E42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1983886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AC6C1"/>
            </a:gs>
            <a:gs pos="100000">
              <a:srgbClr val="ECEAE8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rotWithShape="1">
            <a:gsLst>
              <a:gs pos="0">
                <a:srgbClr val="DFDBD5">
                  <a:alpha val="0"/>
                </a:srgbClr>
              </a:gs>
              <a:gs pos="100000">
                <a:srgbClr val="DFDBD5">
                  <a:alpha val="100000"/>
                </a:srgbClr>
              </a:gs>
            </a:gsLst>
            <a:lin ang="5400000" scaled="1"/>
          </a:gradFill>
          <a:ln w="15875" cap="flat" cmpd="sng">
            <a:noFill/>
            <a:prstDash val="solid"/>
            <a:round/>
          </a:ln>
        </p:spPr>
      </p:sp>
      <p:pic>
        <p:nvPicPr>
          <p:cNvPr id="3" name="图片"/>
          <p:cNvPicPr>
            <a:picLocks noChangeAspect="1"/>
          </p:cNvPicPr>
          <p:nvPr/>
        </p:nvPicPr>
        <p:blipFill>
          <a:blip r:embed="rId14" cstate="print"/>
          <a:srcRect l="12500" t="1538" r="12500" b="-1538"/>
          <a:stretch>
            <a:fillRect/>
          </a:stretch>
        </p:blipFill>
        <p:spPr>
          <a:xfrm>
            <a:off x="-1" y="6095253"/>
            <a:ext cx="9144001" cy="77472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直线"/>
          <p:cNvSpPr>
            <a:spLocks/>
          </p:cNvSpPr>
          <p:nvPr/>
        </p:nvSpPr>
        <p:spPr>
          <a:xfrm>
            <a:off x="0" y="6101127"/>
            <a:ext cx="9144000" cy="0"/>
          </a:xfrm>
          <a:prstGeom prst="line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</a:ln>
        </p:spPr>
      </p:sp>
      <p:sp>
        <p:nvSpPr>
          <p:cNvPr id="5" name="文本框"/>
          <p:cNvSpPr>
            <a:spLocks noGrp="1"/>
          </p:cNvSpPr>
          <p:nvPr>
            <p:ph type="title"/>
          </p:nvPr>
        </p:nvSpPr>
        <p:spPr>
          <a:xfrm>
            <a:off x="1443491" y="804519"/>
            <a:ext cx="6571343" cy="104923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idx="2"/>
          </p:nvPr>
        </p:nvSpPr>
        <p:spPr>
          <a:xfrm>
            <a:off x="5646542" y="330370"/>
            <a:ext cx="2368292" cy="309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000">
                <a:solidFill>
                  <a:srgbClr val="898989"/>
                </a:solidFill>
                <a:latin typeface="Gill Sans MT" charset="0"/>
                <a:ea typeface="等线" charset="0"/>
                <a:cs typeface="Gill Sans MT" charset="0"/>
              </a:rPr>
              <a:t>7/28/2026</a:t>
            </a:fld>
            <a:endParaRPr lang="zh-CN" altLang="en-US" sz="1000">
              <a:solidFill>
                <a:srgbClr val="898989"/>
              </a:solidFill>
              <a:latin typeface="Gill Sans MT" charset="0"/>
              <a:ea typeface="等线" charset="0"/>
              <a:cs typeface="Gill Sans MT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idx="3"/>
          </p:nvPr>
        </p:nvSpPr>
        <p:spPr>
          <a:xfrm>
            <a:off x="1443491" y="329308"/>
            <a:ext cx="4034004" cy="309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000">
              <a:solidFill>
                <a:srgbClr val="898989"/>
              </a:solidFill>
              <a:latin typeface="Gill Sans MT" charset="0"/>
              <a:ea typeface="等线" charset="0"/>
              <a:cs typeface="Gill Sans MT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sldNum" idx="4"/>
          </p:nvPr>
        </p:nvSpPr>
        <p:spPr>
          <a:xfrm>
            <a:off x="487724" y="798972"/>
            <a:ext cx="795746" cy="50357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2800" b="0" i="0" u="none" strike="noStrike" kern="1200" cap="none" spc="0" baseline="0">
                <a:solidFill>
                  <a:schemeClr val="accent1"/>
                </a:solidFill>
                <a:latin typeface="Gill Sans MT" charset="0"/>
                <a:ea typeface="等线" charset="0"/>
                <a:cs typeface="Gill Sans MT" charset="0"/>
              </a:rPr>
              <a:t>‹#›</a:t>
            </a:fld>
            <a:endParaRPr lang="zh-CN" altLang="en-US" sz="2800">
              <a:solidFill>
                <a:schemeClr val="accent1"/>
              </a:solidFill>
              <a:latin typeface="Gill Sans MT" charset="0"/>
              <a:ea typeface="等线" charset="0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90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3200" b="0" i="0" kern="1200" cap="all">
          <a:solidFill>
            <a:schemeClr val="tx1"/>
          </a:solidFill>
          <a:latin typeface="Gill Sans MT" charset="0"/>
          <a:ea typeface="等线 Light" charset="0"/>
          <a:cs typeface="Gill Sans MT" charset="0"/>
        </a:defRPr>
      </a:lvl1pPr>
    </p:titleStyle>
    <p:bodyStyle>
      <a:lvl1pPr marL="228600" indent="-228600" algn="l" defTabSz="914400" eaLnBrk="1" fontAlgn="auto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itchFamily="34" charset="0"/>
        <a:buChar char="•"/>
        <a:defRPr sz="2000" kern="1200" cap="none">
          <a:solidFill>
            <a:schemeClr val="tx1"/>
          </a:solidFill>
          <a:latin typeface="Gill Sans MT" charset="0"/>
          <a:ea typeface="等线" charset="0"/>
          <a:cs typeface="Gill Sans MT" charset="0"/>
        </a:defRPr>
      </a:lvl1pPr>
      <a:lvl2pPr marL="685800" indent="-228600" algn="l" defTabSz="914400" eaLnBrk="1" fontAlgn="auto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itchFamily="34" charset="0"/>
        <a:buChar char="•"/>
        <a:defRPr sz="1600" kern="1200" cap="none" baseline="0">
          <a:solidFill>
            <a:schemeClr val="tx1"/>
          </a:solidFill>
          <a:latin typeface="Gill Sans MT" charset="0"/>
          <a:ea typeface="等线" charset="0"/>
          <a:cs typeface="Gill Sans MT" charset="0"/>
        </a:defRPr>
      </a:lvl2pPr>
      <a:lvl3pPr marL="1143000" indent="-228600" algn="l" defTabSz="914400" eaLnBrk="1" fontAlgn="auto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itchFamily="34" charset="0"/>
        <a:buChar char="•"/>
        <a:defRPr sz="1600" kern="1200" cap="none">
          <a:solidFill>
            <a:schemeClr val="tx1"/>
          </a:solidFill>
          <a:latin typeface="Gill Sans MT" charset="0"/>
          <a:ea typeface="等线" charset="0"/>
          <a:cs typeface="Gill Sans MT" charset="0"/>
        </a:defRPr>
      </a:lvl3pPr>
      <a:lvl4pPr marL="1600200" indent="-228600" algn="l" defTabSz="914400" eaLnBrk="1" fontAlgn="auto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itchFamily="34" charset="0"/>
        <a:buChar char="•"/>
        <a:defRPr sz="1400" kern="1200" cap="none" baseline="0">
          <a:solidFill>
            <a:schemeClr val="tx1"/>
          </a:solidFill>
          <a:latin typeface="Gill Sans MT" charset="0"/>
          <a:ea typeface="等线" charset="0"/>
          <a:cs typeface="Gill Sans MT" charset="0"/>
        </a:defRPr>
      </a:lvl4pPr>
      <a:lvl5pPr marL="2057400" indent="-228600" algn="l" defTabSz="914400" eaLnBrk="1" fontAlgn="auto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itchFamily="34" charset="0"/>
        <a:buChar char="•"/>
        <a:defRPr sz="1200" kern="1200" cap="none">
          <a:solidFill>
            <a:schemeClr val="tx1"/>
          </a:solidFill>
          <a:latin typeface="Gill Sans MT" charset="0"/>
          <a:ea typeface="等线" charset="0"/>
          <a:cs typeface="Gill Sans MT" charset="0"/>
        </a:defRPr>
      </a:lvl5pPr>
      <a:lvl6pPr marL="2514600" indent="-228600" algn="l" defTabSz="914400" eaLnBrk="1" fontAlgn="auto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Gill Sans MT" charset="0"/>
          <a:ea typeface="等线" charset="0"/>
          <a:cs typeface="Gill Sans MT" charset="0"/>
        </a:defRPr>
      </a:lvl6pPr>
      <a:lvl7pPr marL="2971800" indent="-228600" algn="l" defTabSz="914400" eaLnBrk="1" fontAlgn="auto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Gill Sans MT" charset="0"/>
          <a:ea typeface="等线" charset="0"/>
          <a:cs typeface="Gill Sans MT" charset="0"/>
        </a:defRPr>
      </a:lvl7pPr>
      <a:lvl8pPr marL="3429000" indent="-228600" algn="l" defTabSz="914400" eaLnBrk="1" fontAlgn="auto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itchFamily="34" charset="0"/>
        <a:buChar char="•"/>
        <a:defRPr sz="1200" kern="1200" baseline="0">
          <a:solidFill>
            <a:schemeClr val="tx1"/>
          </a:solidFill>
          <a:latin typeface="Gill Sans MT" charset="0"/>
          <a:ea typeface="等线" charset="0"/>
          <a:cs typeface="Gill Sans MT" charset="0"/>
        </a:defRPr>
      </a:lvl8pPr>
      <a:lvl9pPr marL="3429000" indent="-228600" algn="l" defTabSz="914400" eaLnBrk="1" fontAlgn="auto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itchFamily="34" charset="0"/>
        <a:buChar char="•"/>
        <a:defRPr sz="1200" kern="1200" baseline="0">
          <a:solidFill>
            <a:schemeClr val="tx1"/>
          </a:solidFill>
          <a:latin typeface="Gill Sans MT" charset="0"/>
          <a:ea typeface="等线" charset="0"/>
          <a:cs typeface="Gill Sans MT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AC6C1"/>
            </a:gs>
            <a:gs pos="100000">
              <a:srgbClr val="ECEAE8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"/>
          <p:cNvSpPr>
            <a:spLocks noGrp="1"/>
          </p:cNvSpPr>
          <p:nvPr>
            <p:ph type="title"/>
          </p:nvPr>
        </p:nvSpPr>
        <p:spPr>
          <a:xfrm>
            <a:off x="564041" y="2429108"/>
            <a:ext cx="7367562" cy="1566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ctr"/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Search In Machine Learning</a:t>
            </a:r>
            <a:endParaRPr lang="zh-CN" altLang="en-US" sz="1400" b="1" i="0" u="none" strike="noStrike" kern="1200" cap="none" spc="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body" idx="1"/>
          </p:nvPr>
        </p:nvSpPr>
        <p:spPr>
          <a:xfrm>
            <a:off x="149210" y="3552541"/>
            <a:ext cx="7367562" cy="328381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endParaRPr lang="en-US" altLang="zh-CN" sz="2200" b="0" i="0" u="none" strike="noStrike" kern="1200" cap="none" spc="0" baseline="0" dirty="0">
              <a:solidFill>
                <a:schemeClr val="tx1"/>
              </a:solidFill>
              <a:latin typeface="Bahnschrift SemiBold Condensed" pitchFamily="34" charset="0"/>
              <a:ea typeface="等线" charset="0"/>
              <a:cs typeface="Times New Roman" pitchFamily="18" charset="0"/>
            </a:endParaRPr>
          </a:p>
          <a:p>
            <a: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en-US" altLang="zh-CN" sz="22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SUBMITTED BY:</a:t>
            </a:r>
            <a:br>
              <a:rPr lang="zh-CN" altLang="en-US" sz="22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</a:br>
            <a:r>
              <a:rPr lang="en-US" altLang="zh-CN" sz="2200" b="1" i="1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P. Sai Ganesh Reddy</a:t>
            </a:r>
            <a:r>
              <a:rPr lang="en-US" altLang="zh-CN" sz="2200" b="0" i="1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(192525111)</a:t>
            </a:r>
            <a:r>
              <a:rPr lang="en-US" altLang="zh-CN" sz="2200" b="0" i="1" u="none" strike="noStrike" kern="1200" cap="none" spc="0" baseline="0" dirty="0">
                <a:solidFill>
                  <a:schemeClr val="tx1"/>
                </a:solidFill>
                <a:latin typeface="Bahnschrift SemiBold Condensed" pitchFamily="34" charset="0"/>
                <a:ea typeface="等线" charset="0"/>
                <a:cs typeface="Times New Roman" pitchFamily="18" charset="0"/>
              </a:rPr>
              <a:t>                                    </a:t>
            </a:r>
          </a:p>
          <a:p>
            <a:pPr marL="2286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en-US" altLang="zh-CN" sz="22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Supervisor                                                               </a:t>
            </a:r>
            <a:br>
              <a:rPr lang="zh-CN" altLang="en-US" sz="22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</a:br>
            <a:r>
              <a:rPr lang="en-US" altLang="zh-CN" sz="22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Dr</a:t>
            </a: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等线" charset="0"/>
                <a:cs typeface="Times New Roman" pitchFamily="18" charset="0"/>
              </a:rPr>
              <a:t>. </a:t>
            </a:r>
            <a:r>
              <a:rPr lang="en-US" altLang="zh-CN" b="1" dirty="0" err="1">
                <a:latin typeface="Times New Roman" pitchFamily="18" charset="0"/>
                <a:cs typeface="Times New Roman" pitchFamily="18" charset="0"/>
              </a:rPr>
              <a:t>Nattar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Kannan</a:t>
            </a:r>
            <a:r>
              <a:rPr lang="en-US" altLang="zh-CN" sz="2600" b="1" i="0" u="none" strike="noStrike" kern="1200" cap="none" spc="0" baseline="0" dirty="0">
                <a:solidFill>
                  <a:schemeClr val="tx1"/>
                </a:solidFill>
                <a:latin typeface="Bahnschrift SemiBold Condensed" pitchFamily="34" charset="0"/>
                <a:ea typeface="等线" charset="0"/>
                <a:cs typeface="Lucida Sans"/>
              </a:rPr>
              <a:t> </a:t>
            </a:r>
            <a:endParaRPr lang="zh-CN" altLang="en-US" sz="2200" b="1" i="0" u="none" strike="noStrike" kern="1200" cap="none" spc="0" baseline="0" dirty="0">
              <a:solidFill>
                <a:schemeClr val="tx1"/>
              </a:solidFill>
              <a:latin typeface="Bahnschrift SemiBold Condensed" pitchFamily="34" charset="0"/>
              <a:ea typeface="等线" charset="0"/>
              <a:cs typeface="Lucida Sans"/>
            </a:endParaRPr>
          </a:p>
        </p:txBody>
      </p:sp>
      <p:pic>
        <p:nvPicPr>
          <p:cNvPr id="21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64733" y="21642"/>
            <a:ext cx="6740885" cy="84138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76255205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AC6C1"/>
            </a:gs>
            <a:gs pos="100000">
              <a:srgbClr val="ECEAE8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title"/>
          </p:nvPr>
        </p:nvSpPr>
        <p:spPr>
          <a:xfrm>
            <a:off x="1060296" y="1247945"/>
            <a:ext cx="6571343" cy="104923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IN" dirty="0"/>
              <a:t>Heuristic Search</a:t>
            </a:r>
            <a:endParaRPr lang="zh-CN" altLang="en-US" sz="3200" b="0" i="0" u="none" strike="noStrike" kern="1200" cap="all" spc="0" baseline="0" dirty="0">
              <a:solidFill>
                <a:schemeClr val="tx1"/>
              </a:solidFill>
              <a:latin typeface="Gill Sans MT" charset="0"/>
              <a:ea typeface="等线 Light" charset="0"/>
              <a:cs typeface="Lucida Sa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6981" y="1848465"/>
                <a:ext cx="8819535" cy="403122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indent="0">
                  <a:buNone/>
                </a:pPr>
                <a:r>
                  <a:rPr lang="en-IN" sz="1800" b="1" dirty="0"/>
                  <a:t>Definition</a:t>
                </a:r>
              </a:p>
              <a:p>
                <a:r>
                  <a:rPr lang="en-IN" sz="1800" dirty="0"/>
                  <a:t>Heuristic search uses rules (heuristics) to find good solutions quickly. </a:t>
                </a:r>
              </a:p>
              <a:p>
                <a:r>
                  <a:rPr lang="en-IN" sz="1800" dirty="0"/>
                  <a:t>It avoids checking every possible solution. </a:t>
                </a:r>
              </a:p>
              <a:p>
                <a:pPr marL="0" indent="0">
                  <a:buNone/>
                </a:pPr>
                <a:r>
                  <a:rPr lang="en-IN" sz="1800" b="1" dirty="0"/>
                  <a:t>Role in ML</a:t>
                </a:r>
              </a:p>
              <a:p>
                <a:r>
                  <a:rPr lang="en-IN" sz="1800" dirty="0"/>
                  <a:t>Explores hypothesis space efficiently. </a:t>
                </a:r>
              </a:p>
              <a:p>
                <a:r>
                  <a:rPr lang="en-IN" sz="1800" dirty="0"/>
                  <a:t>Reduces search time and computation. </a:t>
                </a:r>
              </a:p>
              <a:p>
                <a:pPr marL="0" indent="0">
                  <a:buNone/>
                </a:pPr>
                <a:r>
                  <a:rPr lang="en-IN" sz="1800" b="1" dirty="0"/>
                  <a:t>Formula:</a:t>
                </a:r>
                <a:endParaRPr lang="en-I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IN" sz="1800" dirty="0"/>
              </a:p>
              <a:p>
                <a:r>
                  <a:rPr lang="en-IN" sz="1800" b="1" dirty="0"/>
                  <a:t>g(n):</a:t>
                </a:r>
                <a:r>
                  <a:rPr lang="en-IN" sz="1800" dirty="0"/>
                  <a:t> Actual cost </a:t>
                </a:r>
              </a:p>
              <a:p>
                <a:r>
                  <a:rPr lang="en-IN" sz="1800" b="1" dirty="0"/>
                  <a:t>h(n):</a:t>
                </a:r>
                <a:r>
                  <a:rPr lang="en-IN" sz="1800" dirty="0"/>
                  <a:t> Estimated cost</a:t>
                </a:r>
              </a:p>
              <a:p>
                <a:pPr marL="228600" indent="-228600" algn="l">
                  <a:lnSpc>
                    <a:spcPct val="12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100000"/>
                  <a:buFont typeface="Arial" pitchFamily="34" charset="0"/>
                  <a:buChar char="•"/>
                </a:pPr>
                <a:endParaRPr lang="zh-CN" altLang="en-US" sz="1800" b="0" i="0" u="none" strike="noStrike" kern="1200" cap="none" spc="0" baseline="0" dirty="0">
                  <a:solidFill>
                    <a:schemeClr val="tx1"/>
                  </a:solidFill>
                  <a:latin typeface="Gill Sans MT" charset="0"/>
                  <a:ea typeface="等线" charset="0"/>
                  <a:cs typeface="Lucida Sans"/>
                </a:endParaRPr>
              </a:p>
            </p:txBody>
          </p:sp>
        </mc:Choice>
        <mc:Fallback xmlns="">
          <p:sp>
            <p:nvSpPr>
              <p:cNvPr id="23" name="文本框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6981" y="1848465"/>
                <a:ext cx="8819535" cy="4031225"/>
              </a:xfrm>
              <a:prstGeom prst="rect">
                <a:avLst/>
              </a:prstGeom>
              <a:blipFill>
                <a:blip r:embed="rId2"/>
                <a:stretch>
                  <a:fillRect l="-553" b="-9819"/>
                </a:stretch>
              </a:blipFill>
              <a:ln w="12700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图片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612" y="121475"/>
            <a:ext cx="7556600" cy="104923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8372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AC6C1"/>
            </a:gs>
            <a:gs pos="100000">
              <a:srgbClr val="ECEAE8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"/>
          <p:cNvSpPr>
            <a:spLocks noGrp="1"/>
          </p:cNvSpPr>
          <p:nvPr>
            <p:ph type="title"/>
          </p:nvPr>
        </p:nvSpPr>
        <p:spPr>
          <a:xfrm>
            <a:off x="776967" y="1309461"/>
            <a:ext cx="6571343" cy="129340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IN" dirty="0"/>
              <a:t>Hypothesis Space Exploration</a:t>
            </a:r>
            <a:endParaRPr lang="zh-CN" altLang="en-US" sz="3200" b="0" i="0" u="none" strike="noStrike" kern="1200" cap="all" spc="0" baseline="0" dirty="0">
              <a:solidFill>
                <a:schemeClr val="tx1"/>
              </a:solidFill>
              <a:latin typeface="Gill Sans MT" charset="0"/>
              <a:ea typeface="等线 Light" charset="0"/>
              <a:cs typeface="Lucida Sans"/>
            </a:endParaRPr>
          </a:p>
        </p:txBody>
      </p:sp>
      <p:sp>
        <p:nvSpPr>
          <p:cNvPr id="34" name="文本框"/>
          <p:cNvSpPr>
            <a:spLocks noGrp="1"/>
          </p:cNvSpPr>
          <p:nvPr>
            <p:ph type="body" idx="1"/>
          </p:nvPr>
        </p:nvSpPr>
        <p:spPr>
          <a:xfrm>
            <a:off x="328773" y="1940610"/>
            <a:ext cx="8431769" cy="41947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IN" sz="1600" b="1" dirty="0"/>
              <a:t>Hypothesis Space</a:t>
            </a:r>
          </a:p>
          <a:p>
            <a:r>
              <a:rPr lang="en-IN" sz="1600" dirty="0"/>
              <a:t>Set of all possible models. </a:t>
            </a:r>
          </a:p>
          <a:p>
            <a:pPr marL="0" indent="0">
              <a:buNone/>
            </a:pPr>
            <a:r>
              <a:rPr lang="en-IN" sz="1600" b="1" dirty="0"/>
              <a:t>Heuristic Search</a:t>
            </a:r>
          </a:p>
          <a:p>
            <a:r>
              <a:rPr lang="en-IN" sz="1600" dirty="0"/>
              <a:t>Chooses promising models first. </a:t>
            </a:r>
          </a:p>
          <a:p>
            <a:r>
              <a:rPr lang="en-IN" sz="1600" dirty="0"/>
              <a:t>Eliminates poor choices. </a:t>
            </a:r>
          </a:p>
          <a:p>
            <a:r>
              <a:rPr lang="en-IN" sz="1600" dirty="0"/>
              <a:t>Speeds up learning. </a:t>
            </a:r>
          </a:p>
          <a:p>
            <a:pPr marL="0" indent="0">
              <a:buNone/>
            </a:pPr>
            <a:r>
              <a:rPr lang="en-IN" sz="1600" b="1" dirty="0"/>
              <a:t>Common Heuristics</a:t>
            </a:r>
            <a:endParaRPr lang="en-IN" sz="1600" dirty="0"/>
          </a:p>
          <a:p>
            <a:r>
              <a:rPr lang="en-IN" sz="1600" dirty="0"/>
              <a:t>Information Gain </a:t>
            </a:r>
          </a:p>
          <a:p>
            <a:r>
              <a:rPr lang="en-IN" sz="1600" dirty="0"/>
              <a:t>Gini Index </a:t>
            </a:r>
          </a:p>
          <a:p>
            <a:r>
              <a:rPr lang="en-IN" sz="1600" dirty="0"/>
              <a:t>Error Rate</a:t>
            </a:r>
          </a:p>
        </p:txBody>
      </p:sp>
      <p:pic>
        <p:nvPicPr>
          <p:cNvPr id="36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8773" y="170170"/>
            <a:ext cx="8265518" cy="90861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02352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AC6C1"/>
            </a:gs>
            <a:gs pos="100000">
              <a:srgbClr val="ECEAE8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"/>
          <p:cNvSpPr>
            <a:spLocks noGrp="1"/>
          </p:cNvSpPr>
          <p:nvPr>
            <p:ph type="title"/>
          </p:nvPr>
        </p:nvSpPr>
        <p:spPr>
          <a:xfrm>
            <a:off x="770563" y="1222625"/>
            <a:ext cx="7244271" cy="6311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IN" dirty="0"/>
              <a:t>Search Process</a:t>
            </a:r>
            <a:endParaRPr lang="zh-CN" altLang="en-US" sz="3200" b="0" i="0" u="none" strike="noStrike" kern="1200" cap="all" spc="0" baseline="0" dirty="0">
              <a:solidFill>
                <a:schemeClr val="tx1"/>
              </a:solidFill>
              <a:latin typeface="Gill Sans MT" charset="0"/>
              <a:ea typeface="等线 Light" charset="0"/>
              <a:cs typeface="Lucida Sans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body" idx="1"/>
          </p:nvPr>
        </p:nvSpPr>
        <p:spPr>
          <a:xfrm>
            <a:off x="472611" y="1886677"/>
            <a:ext cx="7542222" cy="332932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IN" sz="1600" b="1" dirty="0"/>
              <a:t>Steps</a:t>
            </a:r>
          </a:p>
          <a:p>
            <a:r>
              <a:rPr lang="en-IN" sz="1600" dirty="0"/>
              <a:t>Generate solutions. </a:t>
            </a:r>
          </a:p>
          <a:p>
            <a:r>
              <a:rPr lang="en-IN" sz="1600" dirty="0"/>
              <a:t>Evaluate using heuristic. </a:t>
            </a:r>
          </a:p>
          <a:p>
            <a:r>
              <a:rPr lang="en-IN" sz="1600" dirty="0"/>
              <a:t>Select the best. </a:t>
            </a:r>
          </a:p>
          <a:p>
            <a:r>
              <a:rPr lang="en-IN" sz="1600" dirty="0"/>
              <a:t>Repeat until a good solution is found. </a:t>
            </a:r>
          </a:p>
          <a:p>
            <a:pPr marL="0" indent="0">
              <a:buNone/>
            </a:pPr>
            <a:r>
              <a:rPr lang="en-IN" sz="1600" b="1" dirty="0"/>
              <a:t>Algorithms</a:t>
            </a:r>
          </a:p>
          <a:p>
            <a:r>
              <a:rPr lang="en-IN" sz="1600" dirty="0"/>
              <a:t>A* Search </a:t>
            </a:r>
          </a:p>
          <a:p>
            <a:r>
              <a:rPr lang="en-IN" sz="1600" dirty="0"/>
              <a:t>Greedy Search </a:t>
            </a:r>
          </a:p>
          <a:p>
            <a:r>
              <a:rPr lang="en-IN" sz="1600" dirty="0"/>
              <a:t>Hill Climbing </a:t>
            </a:r>
          </a:p>
          <a:p>
            <a:r>
              <a:rPr lang="en-IN" sz="1600" dirty="0"/>
              <a:t>Beam Search</a:t>
            </a:r>
          </a:p>
        </p:txBody>
      </p:sp>
      <p:pic>
        <p:nvPicPr>
          <p:cNvPr id="39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0563" y="0"/>
            <a:ext cx="7542222" cy="11096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86767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AC6C1"/>
            </a:gs>
            <a:gs pos="100000">
              <a:srgbClr val="ECEAE8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"/>
          <p:cNvSpPr>
            <a:spLocks noGrp="1"/>
          </p:cNvSpPr>
          <p:nvPr>
            <p:ph type="title"/>
          </p:nvPr>
        </p:nvSpPr>
        <p:spPr>
          <a:xfrm>
            <a:off x="493161" y="1202076"/>
            <a:ext cx="7521673" cy="6516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IN" dirty="0"/>
              <a:t>Applications</a:t>
            </a:r>
            <a:endParaRPr lang="zh-CN" altLang="en-US" sz="3200" b="0" i="0" u="none" strike="noStrike" kern="1200" cap="all" spc="0" baseline="0" dirty="0">
              <a:solidFill>
                <a:schemeClr val="tx1"/>
              </a:solidFill>
              <a:latin typeface="Gill Sans MT" charset="0"/>
              <a:ea typeface="等线 Light" charset="0"/>
              <a:cs typeface="Lucida Sans"/>
            </a:endParaRPr>
          </a:p>
        </p:txBody>
      </p:sp>
      <p:sp>
        <p:nvSpPr>
          <p:cNvPr id="42" name="文本框"/>
          <p:cNvSpPr>
            <a:spLocks noGrp="1"/>
          </p:cNvSpPr>
          <p:nvPr>
            <p:ph type="body" idx="1"/>
          </p:nvPr>
        </p:nvSpPr>
        <p:spPr>
          <a:xfrm>
            <a:off x="297951" y="2015733"/>
            <a:ext cx="7716883" cy="345061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IN" sz="1800" b="1" dirty="0"/>
              <a:t>Decision Trees</a:t>
            </a:r>
            <a:r>
              <a:rPr lang="en-IN" sz="1800" dirty="0"/>
              <a:t> → Information Gain </a:t>
            </a:r>
          </a:p>
          <a:p>
            <a:r>
              <a:rPr lang="en-IN" sz="1800" b="1" dirty="0"/>
              <a:t>A</a:t>
            </a:r>
            <a:r>
              <a:rPr lang="en-IN" sz="1800" dirty="0"/>
              <a:t>* → Shortest path </a:t>
            </a:r>
          </a:p>
          <a:p>
            <a:r>
              <a:rPr lang="en-IN" sz="1800" b="1" dirty="0"/>
              <a:t>Feature Selection</a:t>
            </a:r>
            <a:r>
              <a:rPr lang="en-IN" sz="1800" dirty="0"/>
              <a:t> → Best features </a:t>
            </a:r>
          </a:p>
          <a:p>
            <a:r>
              <a:rPr lang="en-IN" sz="1800" b="1" dirty="0"/>
              <a:t>Neural Architecture Search</a:t>
            </a:r>
            <a:r>
              <a:rPr lang="en-IN" sz="1800" dirty="0"/>
              <a:t> → Optimized networks </a:t>
            </a:r>
          </a:p>
          <a:p>
            <a:pPr marL="0" indent="0">
              <a:buNone/>
            </a:pPr>
            <a:r>
              <a:rPr lang="en-IN" sz="1800" b="1" dirty="0"/>
              <a:t>Benefits</a:t>
            </a:r>
          </a:p>
          <a:p>
            <a:r>
              <a:rPr lang="en-IN" sz="1800" dirty="0"/>
              <a:t>Faster learning </a:t>
            </a:r>
          </a:p>
          <a:p>
            <a:r>
              <a:rPr lang="en-IN" sz="1800" dirty="0"/>
              <a:t>Less computation </a:t>
            </a:r>
          </a:p>
          <a:p>
            <a:r>
              <a:rPr lang="en-IN" sz="1800" dirty="0"/>
              <a:t>Better accuracy</a:t>
            </a:r>
          </a:p>
        </p:txBody>
      </p:sp>
      <p:pic>
        <p:nvPicPr>
          <p:cNvPr id="43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5835" y="92443"/>
            <a:ext cx="7239000" cy="9476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73533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AC6C1"/>
            </a:gs>
            <a:gs pos="100000">
              <a:srgbClr val="ECEAE8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"/>
          <p:cNvSpPr>
            <a:spLocks noGrp="1"/>
          </p:cNvSpPr>
          <p:nvPr>
            <p:ph type="title"/>
          </p:nvPr>
        </p:nvSpPr>
        <p:spPr>
          <a:xfrm>
            <a:off x="487995" y="1181528"/>
            <a:ext cx="7526840" cy="67222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IN" dirty="0"/>
              <a:t>Conclusion</a:t>
            </a:r>
            <a:endParaRPr lang="zh-CN" altLang="en-US" sz="3200" b="0" i="0" u="none" strike="noStrike" kern="1200" cap="all" spc="0" baseline="0" dirty="0">
              <a:solidFill>
                <a:schemeClr val="tx1"/>
              </a:solidFill>
              <a:latin typeface="Gill Sans MT" charset="0"/>
              <a:ea typeface="等线 Light" charset="0"/>
              <a:cs typeface="Lucida Sans"/>
            </a:endParaRPr>
          </a:p>
        </p:txBody>
      </p:sp>
      <p:sp>
        <p:nvSpPr>
          <p:cNvPr id="45" name="文本框"/>
          <p:cNvSpPr>
            <a:spLocks noGrp="1"/>
          </p:cNvSpPr>
          <p:nvPr>
            <p:ph type="body" idx="1"/>
          </p:nvPr>
        </p:nvSpPr>
        <p:spPr>
          <a:xfrm>
            <a:off x="487994" y="2015733"/>
            <a:ext cx="8542990" cy="415903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IN" sz="1800" b="1" dirty="0"/>
              <a:t>Summary</a:t>
            </a:r>
          </a:p>
          <a:p>
            <a:r>
              <a:rPr lang="en-IN" sz="1800" dirty="0"/>
              <a:t>Heuristic search guides machine learning efficiently. </a:t>
            </a:r>
          </a:p>
          <a:p>
            <a:r>
              <a:rPr lang="en-IN" sz="1800" dirty="0"/>
              <a:t>Finds optimal or near-optimal solutions. </a:t>
            </a:r>
          </a:p>
          <a:p>
            <a:r>
              <a:rPr lang="en-IN" sz="1800" dirty="0"/>
              <a:t>Saves time and computational resources. </a:t>
            </a:r>
          </a:p>
          <a:p>
            <a:pPr marL="0" indent="0">
              <a:buNone/>
            </a:pPr>
            <a:r>
              <a:rPr lang="en-IN" sz="1800" b="1" dirty="0"/>
              <a:t>Key Advantages</a:t>
            </a:r>
          </a:p>
          <a:p>
            <a:r>
              <a:rPr lang="en-IN" sz="1800" dirty="0"/>
              <a:t>Fast search </a:t>
            </a:r>
          </a:p>
          <a:p>
            <a:r>
              <a:rPr lang="en-IN" sz="1800" dirty="0"/>
              <a:t>Reduced complexity </a:t>
            </a:r>
          </a:p>
          <a:p>
            <a:r>
              <a:rPr lang="en-IN" sz="1800" dirty="0"/>
              <a:t>Improved performance </a:t>
            </a:r>
          </a:p>
          <a:p>
            <a:r>
              <a:rPr lang="en-IN" sz="1800" dirty="0"/>
              <a:t>Scalable for large datasets</a:t>
            </a:r>
          </a:p>
          <a:p>
            <a:pPr marL="2286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Gill Sans MT" charset="0"/>
              <a:ea typeface="等线" charset="0"/>
              <a:cs typeface="Lucida Sans"/>
            </a:endParaRPr>
          </a:p>
        </p:txBody>
      </p:sp>
      <p:pic>
        <p:nvPicPr>
          <p:cNvPr id="47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5835" y="71895"/>
            <a:ext cx="7239000" cy="9476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515891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8337-3E7E-6F5B-FA58-D2169CE1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GEOTAG PHOTO: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13EE21-35ED-9E04-9CCD-AEDE478584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569" y="1984069"/>
            <a:ext cx="2989006" cy="398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AC6C1"/>
            </a:gs>
            <a:gs pos="100000">
              <a:srgbClr val="ECEAE8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"/>
          <p:cNvSpPr>
            <a:spLocks noGrp="1"/>
          </p:cNvSpPr>
          <p:nvPr>
            <p:ph type="title"/>
          </p:nvPr>
        </p:nvSpPr>
        <p:spPr>
          <a:xfrm>
            <a:off x="2953792" y="1184664"/>
            <a:ext cx="6571343" cy="345061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all" spc="0" baseline="0">
                <a:solidFill>
                  <a:schemeClr val="tx1"/>
                </a:solidFill>
                <a:latin typeface="Gill Sans MT" charset="0"/>
                <a:ea typeface="等线 Light" charset="0"/>
                <a:cs typeface="Lucida Sans"/>
              </a:rPr>
              <a:t>Thank You</a:t>
            </a:r>
            <a:endParaRPr lang="zh-CN" altLang="en-US" sz="3200" b="0" i="0" u="none" strike="noStrike" kern="1200" cap="all" spc="0" baseline="0">
              <a:solidFill>
                <a:schemeClr val="tx1"/>
              </a:solidFill>
              <a:latin typeface="Gill Sans MT" charset="0"/>
              <a:ea typeface="等线 Light" charset="0"/>
              <a:cs typeface="Lucida Sans"/>
            </a:endParaRPr>
          </a:p>
        </p:txBody>
      </p:sp>
      <p:pic>
        <p:nvPicPr>
          <p:cNvPr id="79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03882" y="0"/>
            <a:ext cx="9351764" cy="6092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56047977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Gallery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265</TotalTime>
  <Words>215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Bahnschrift SemiBold Condensed</vt:lpstr>
      <vt:lpstr>Cambria Math</vt:lpstr>
      <vt:lpstr>Droid Sans</vt:lpstr>
      <vt:lpstr>Gill Sans MT</vt:lpstr>
      <vt:lpstr>Times New Roman</vt:lpstr>
      <vt:lpstr>Gallery</vt:lpstr>
      <vt:lpstr>Heuristic Search In Machine Learning</vt:lpstr>
      <vt:lpstr>Heuristic Search</vt:lpstr>
      <vt:lpstr>Hypothesis Space Exploration</vt:lpstr>
      <vt:lpstr>Search Process</vt:lpstr>
      <vt:lpstr>Applications</vt:lpstr>
      <vt:lpstr>Conclusion</vt:lpstr>
      <vt:lpstr>GEOTAG PHOTO: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:description>generated using python-pptx</dc:description>
  <cp:lastModifiedBy>SHAIK YUNUS</cp:lastModifiedBy>
  <cp:revision>13</cp:revision>
  <dcterms:created xsi:type="dcterms:W3CDTF">2013-01-27T09:14:16Z</dcterms:created>
  <dcterms:modified xsi:type="dcterms:W3CDTF">2026-07-28T05:41:33Z</dcterms:modified>
</cp:coreProperties>
</file>